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30 s. Tramo 00:00–00:30.</a:t>
            </a:r>
          </a:p>
          <a:p/>
          <a:p>
            <a:r>
              <a:t>APERTURA. He elegido este proyecto personal porque puedo recorrer una petición de principio a fin y explicar las decisiones de concurrencia, recursos y verificación. El objetivo no es presentar un producto terminado ni conocimientos de criptografía: es mostrar criterio como desarrollador C/C++.</a:t>
            </a:r>
          </a:p>
          <a:p>
            <a:r>
              <a:t>La red es el caso de uso. El hilo conductor será cómo evolucionó la arquitectura y cómo compruebo sus límites. Describir honestamente las herramientas de asistencia utilizadas si preguntan por el proceso de desarrollo.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Tramo 00:30–01:15.</a:t>
            </a:r>
          </a:p>
          <a:p/>
          <a:p>
            <a:r>
              <a:t>PROBLEMA. Atender varios clientes con un protocolo sencillo sin crear recursos sin límite. Restricciones: C++17, sockets POSIX, macOS/Linux y aplicación de consola. Criterios observables: un cliente no bloquea a otro mientras hay un worker disponible; cola llena aplica rechazo; el apagado termina con clientes activos o pendientes.</a:t>
            </a:r>
          </a:p>
          <a:p>
            <a:r>
              <a:t>No es un servidor criptográfico, no hay TLS ni autenticación en el protocolo TCP. No se ha medido rendimiento a gran escala. El número de workers y la cola son configurables.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01:15–02:15.</a:t>
            </a:r>
          </a:p>
          <a:p/>
          <a:p>
            <a:r>
              <a:t>RECORRIDO. main configura host, puerto y pool; TcpServer gestiona sockets y concurrencia. Cada worker llama a handle_client y este delega la línea en LineProtocol. CommandResult devuelve response y close_connection; el resultado vuelve al servidor para enviarlo. La separación permite probar el protocolo sin abrir sockets y cambiar el modelo de concurrencia sin reescribir los comandos.</a:t>
            </a:r>
          </a:p>
          <a:p>
            <a:r>
              <a:t>ServerStats usa contadores atómicos. STATS cuenta clientes que comienzan a ser atendidos, no los pendientes o rechazados. No es una instantánea conjunta de los contadores.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Tramo 02:15–03:00.</a:t>
            </a:r>
          </a:p>
          <a:p/>
          <a:p>
            <a:r>
              <a:t>TCP no conserva fronteras de mensajes. En esta versión, el delimitador es el salto de línea. read_line lee byte a byte y limita la entrada con max_line_bytes=4096. Es didáctico y tiene coste de syscalls; una mejora sería buffering. send_all gestiona envíos parciales; se reintenta EINTR. Se evita SIGPIPE en envío para que una desconexión no termine el proceso.</a:t>
            </a:r>
          </a:p>
          <a:p>
            <a:r>
              <a:t>PING/ECHO/TIME/STATS/HELP/QUIT. El JSON es un parser plano propio y limitado, no un parser general. Las respuestas son siempre texto. La evolución sería una biblioteca JSON y una validación más completa.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03:00–04:00.</a:t>
            </a:r>
          </a:p>
          <a:p/>
          <a:p>
            <a:r>
              <a:t>EVOLUCIÓN. La versión inicial usaba un thread detached por cliente: simple, pero sin límite de hilos y con vida útil del servidor difícil de coordinar. Ahora hay pool fijo y join. La justificación es controlar recursos y terminar de forma coordinada, no una mejora de throughput medida.</a:t>
            </a:r>
          </a:p>
          <a:p>
            <a:r>
              <a:t>Event loop o Boost.Asio son alternativas para muchas conexiones inactivas, con mayor complejidad de estado y cancelación. No se han implementado. Un pool bloqueante todavía puede agotarse con clientes lentos. La elección depende del patrón de carga y los requisitos, no de que una técnica sea universalmente mejor.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04:00–05:00.</a:t>
            </a:r>
          </a:p>
          <a:p/>
          <a:p>
            <a:r>
              <a:t>El productor es accept_loop: poll y accept no bloqueante, configuración del socket, inserción en pending_clients y notify_one. Los consumidores son worker_loop: esperan, extraen, registran y atienden. Por defecto hay 4 workers y capacidad para 16 pendientes. La cola es FIFO; el orden de terminación puede variar. Una cola llena cierra la nueva conexión, sin mensaje BUSY.</a:t>
            </a:r>
          </a:p>
          <a:p>
            <a:r>
              <a:t>Distinguir cola de aplicación de backlog del kernel. Un trabajo dura toda la conexión, no solo un comando. No hay timeout por cliente: es un límite conocido y una prioridad posterior.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 Tramo 05:00–06:15.</a:t>
            </a:r>
          </a:p>
          <a:p/>
          <a:p>
            <a:r>
              <a:t>clients_mutex protege pending_clients, active_clients y stopping. Son estructuras y transiciones compartidas que no se resuelven con contadores atómicos. lock_guard protege secciones cortas. unique_lock permite que wait libere el mutex al dormir y lo recupere antes de continuar. El predicado maneja despertares espurios y parada. El productor modifica bajo lock y notifica.</a:t>
            </a:r>
          </a:p>
          <a:p>
            <a:r>
              <a:t>El alcance termina antes de handle_client: bloquear durante recv impediría consumir y producir. Atomic se mantiene para estadísticas individuales. join cumple otra función: esperar a que termine el hilo. Pregunta probable: ¿por qué no un mutex por campo? Un único mutex preserva la transición pendiente→activo y su coordinación con stop sin introducir un orden de múltiples locks.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06:15–07:15.</a:t>
            </a:r>
          </a:p>
          <a:p/>
          <a:p>
            <a:r>
              <a:t>El descriptor pasa del productor a la cola y de la cola a un trabajador. Si se rechaza, lo cierra el productor; si queda pendiente al parar, lo cierra stop; si está activo, lo cierra el trabajador. No hay un socket compartido de cliente entre workers.</a:t>
            </a:r>
          </a:p>
          <a:p>
            <a:r>
              <a:t>stop hace shutdown sobre activos para desbloquear E/S, pero no close: el cierre y la eliminación del registro usan el mismo mutex. Así no se opera sobre un descriptor que ya se haya cerrado y reutilizado para otra conexión. No afirmar RAII completo: los sockets del núcleo aún usan cierre manual. Se documenta que TcpServer debe sobrevivir a run; su destrucción concurrente no es un uso permitido.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75 s. Tramo 07:15–08:30.</a:t>
            </a:r>
          </a:p>
          <a:p/>
          <a:p>
            <a:r>
              <a:t>SIGINT/SIGTERM solo escriben un atomic&lt;bool&gt; lock-free, verificado por static_assert. El handler no usa mutex ni condición. El productor observa la bandera mediante poll con timeout de 100 ms. stop marca stopping bajo mutex, descarta pendientes y llama shutdown para los activos. notify_all despierta a los workers en wait. run hace join fuera del mutex y cierra la escucha.</a:t>
            </a:r>
          </a:p>
          <a:p>
            <a:r>
              <a:t>Si hiciera join con mutex adquirido, podría bloquear para siempre al trabajador que lo necesita para cerrar y salir. Es parada coordinada, pero no drenaje de respuestas: se puede interrumpir una petición en curso. run es one-shot y debe retornar antes de destruir el objeto.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90 s. Tramo 08:30–10:00.</a:t>
            </a:r>
          </a:p>
          <a:p/>
          <a:p>
            <a:r>
              <a:t>PREPARACIÓN antes de exponer: ejecutar make; tener tres terminales con nc listas, puerto 9000 libre. Arrancar el comando mostrado. Conectar A y esperar saludo; mantenerlo inactivo. Conectar B: no hay saludo porque espera. Conectar C: cierre por cola llena. En A escribir QUIT; devuelve BYE y B recibe saludo cuando el worker se libera. En B PING devuelve PONG. Por último Ctrl+C en el servidor con B conectado y comprobar terminación.</a:t>
            </a:r>
          </a:p>
          <a:p>
            <a:r>
              <a:t>No teclear el comentario de espera como comando. Si falla la demo, explicar el estado observado y mostrar test-server, sin fingir resultados. Con --workers 2 ambos clientes pueden ser atendidos. Esta demo valida una política funcional, no rendimiento ni ausencia de carreras.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10:00–11:00.</a:t>
            </a:r>
          </a:p>
          <a:p/>
          <a:p>
            <a:r>
              <a:t>Separar qué comprobamos de qué no. Los tests C++ del protocolo verifican comandos y errores. Cinco métodos Python prueban la red real: cola llena y reutilización; independencia de dos workers; SIGINT/SIGTERM con activos/pendientes; workers ociosos; desconexión abrupta sin matar al servidor. Los tests del protocolo y del pool pasaron en macOS y Linux mediante Docker. CTest los integra.</a:t>
            </a:r>
          </a:p>
          <a:p>
            <a:r>
              <a:t>make smoke sigue siendo el smoke test Bash. No se ha medido cobertura, no hay carga prolongada ni detector de carreras ejecutado sobre el pool. Un test correcto no demuestra ausencia de toda carrera.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Tramo 11:00–11:45.</a:t>
            </a:r>
          </a:p>
          <a:p/>
          <a:p>
            <a:r>
              <a:t>Valgrind/Memcheck ejecuta código e informa de accesos inválidos y fugas en caminos recorridos. El ejemplo bug muestra lectura tras delete; fixed usa unique_ptr. No afirmar que el pool completo ya está validado por Valgrind: el comando make valgrind ejecuta los tests del protocolo. Sonar realiza análisis estático del núcleo. Un quality gate aprobado no significa cero issues.</a:t>
            </a:r>
          </a:p>
          <a:p>
            <a:r>
              <a:t>Helgrind/ThreadSanitizer y pruebas de carga son siguientes comprobaciones propuestas. Para una presentación mid-senior interesa explicar qué riesgo cubre cada prueba, no enumerar herramientas.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 Tramo 11:45–12:30.</a:t>
            </a:r>
          </a:p>
          <a:p/>
          <a:p>
            <a:r>
              <a:t>GitHub Actions compila CMake Debug, conservando assert, y ejecuta CTest. El job Sonar en rama principal genera compile_commands.json y espera el quality gate. El token se guarda como secreto. Análisis de src/include; los ejemplos quedan fuera. No hay CD ni despliegue automático.</a:t>
            </a:r>
          </a:p>
          <a:p>
            <a:r>
              <a:t>Estado preciso: el pipeline anterior se ejecutó correctamente el 7 de octubre. El pool nuevo y su integración CTest están comprobados localmente en macOS/Linux, pero los cambios aún están sin publicar. No presentar el informe remoto antiguo como validación del pool. Los enlaces son de un repositorio privado: iniciar sesión antes si se van a abrir.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60 s. Tramo 12:30–13:30.</a:t>
            </a:r>
          </a:p>
          <a:p/>
          <a:p>
            <a:r>
              <a:t>Ejemplo complementario para demostrar integración C++/sistemas. El cliente libssh2 del Mac sube un JSON al OpenSSH de una VM ARM64 en QEMU, puerto local 2222. La imagen es oficial precompilada de Yocto 5.0.17: no hemos creado una BSP o distribuido una imagen propia. Arranca su kernel y mantiene un disco overlay qcow2. Se verificó la transferencia comparando hashes SHA-256.</a:t>
            </a:r>
          </a:p>
          <a:p>
            <a:r>
              <a:t>El servidor TCP no está desplegado en esa VM. Es un ejemplo independiente, sin integración automática con analytics. El cliente imprime la huella pero no valida identidad; uso local de demo con clave propia y root. La empresa no exige criptografía: hablar de integración de biblioteca, no de implementación criptográfica. Analytics con Boost.JSON queda como otro ejemplo del repo si preguntan; no es necesario incluirlo en la exposición principal.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90 s. Tramo 13:30–15:00.</a:t>
            </a:r>
          </a:p>
          <a:p/>
          <a:p>
            <a:r>
              <a:t>CIERRE. Lo más importante de la evolución no es cambiar un hilo por una cola, sino hacer explícitos admisión, propiedad y terminación. Primero mejoraría RAII de sockets y timeout por cliente; después validación y pruebas de carreras/cobertura/carga. Solo entonces decidiría con mediciones si merece la pena un event loop.</a:t>
            </a:r>
          </a:p>
          <a:p>
            <a:r>
              <a:t>Frase final: Este proyecto me permite explicar tanto por qué una petición funciona como qué ocurre cuando el cliente no responde, la cola está llena o el proceso debe terminar. Es un prototipo con límites conocidos, no una solución lista para producción.</a:t>
            </a:r>
          </a:p>
          <a:p>
            <a:r>
              <a:t>Preguntas posibles: wait frente a busy-wait; atomic frente a mutex; fd reutilizados; join y deadlock; clientes lentos; alcance real de los tests. No hay anexos: abrir código solo si lo piden.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github.com/srdiglett/tcp-interview-cpp/actions" TargetMode="External"/><Relationship Id="rId4" Type="http://schemas.openxmlformats.org/officeDocument/2006/relationships/hyperlink" Target="https://sonarcloud.io/dashboard?id=srdiglett_tcp-interview-c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DISEÑO, FIABILIDAD Y EVOLUCIÓN</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Servidor concurrente en C++</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01 / 15</a:t>
            </a:r>
          </a:p>
        </p:txBody>
      </p:sp>
      <p:sp>
        <p:nvSpPr>
          <p:cNvPr id="8" name="TextBox 7"/>
          <p:cNvSpPr txBox="1"/>
          <p:nvPr/>
        </p:nvSpPr>
        <p:spPr>
          <a:xfrm>
            <a:off x="685800" y="2057400"/>
            <a:ext cx="10789920" cy="1417320"/>
          </a:xfrm>
          <a:prstGeom prst="rect">
            <a:avLst/>
          </a:prstGeom>
          <a:noFill/>
        </p:spPr>
        <p:txBody>
          <a:bodyPr wrap="square" lIns="0" rIns="0" tIns="0" bIns="0">
            <a:spAutoFit/>
          </a:bodyPr>
          <a:lstStyle/>
          <a:p>
            <a:pPr>
              <a:lnSpc>
                <a:spcPct val="108000"/>
              </a:lnSpc>
              <a:spcAft>
                <a:spcPts val="800"/>
              </a:spcAft>
              <a:defRPr sz="4200" b="1">
                <a:solidFill>
                  <a:srgbClr val="20282B"/>
                </a:solidFill>
                <a:latin typeface="Arial"/>
              </a:defRPr>
            </a:pPr>
            <a:r>
              <a:t>Acotar recursos.</a:t>
            </a:r>
          </a:p>
          <a:p>
            <a:pPr>
              <a:lnSpc>
                <a:spcPct val="108000"/>
              </a:lnSpc>
              <a:spcAft>
                <a:spcPts val="800"/>
              </a:spcAft>
              <a:defRPr sz="4200" b="1">
                <a:solidFill>
                  <a:srgbClr val="20282B"/>
                </a:solidFill>
                <a:latin typeface="Arial"/>
              </a:defRPr>
            </a:pPr>
            <a:r>
              <a:t>Hacer explícita la vida útil.</a:t>
            </a:r>
          </a:p>
        </p:txBody>
      </p:sp>
      <p:sp>
        <p:nvSpPr>
          <p:cNvPr id="9" name="TextBox 8"/>
          <p:cNvSpPr txBox="1"/>
          <p:nvPr/>
        </p:nvSpPr>
        <p:spPr>
          <a:xfrm>
            <a:off x="731520" y="4069080"/>
            <a:ext cx="10607040" cy="731520"/>
          </a:xfrm>
          <a:prstGeom prst="rect">
            <a:avLst/>
          </a:prstGeom>
          <a:noFill/>
        </p:spPr>
        <p:txBody>
          <a:bodyPr wrap="square" lIns="0" rIns="0" tIns="0" bIns="0">
            <a:spAutoFit/>
          </a:bodyPr>
          <a:lstStyle/>
          <a:p>
            <a:pPr>
              <a:lnSpc>
                <a:spcPct val="108000"/>
              </a:lnSpc>
              <a:spcAft>
                <a:spcPts val="800"/>
              </a:spcAft>
              <a:defRPr sz="2400" b="0">
                <a:solidFill>
                  <a:srgbClr val="536267"/>
                </a:solidFill>
                <a:latin typeface="Arial"/>
              </a:defRPr>
            </a:pPr>
            <a:r>
              <a:t>Un proyecto personal para razonar sobre decisiones de ingeniería.</a:t>
            </a:r>
          </a:p>
        </p:txBody>
      </p:sp>
      <p:sp>
        <p:nvSpPr>
          <p:cNvPr id="10" name="TextBox 9"/>
          <p:cNvSpPr txBox="1"/>
          <p:nvPr/>
        </p:nvSpPr>
        <p:spPr>
          <a:xfrm>
            <a:off x="731520" y="5166360"/>
            <a:ext cx="10698480" cy="365760"/>
          </a:xfrm>
          <a:prstGeom prst="rect">
            <a:avLst/>
          </a:prstGeom>
          <a:noFill/>
        </p:spPr>
        <p:txBody>
          <a:bodyPr wrap="square" lIns="0" rIns="0" tIns="0" bIns="0">
            <a:spAutoFit/>
          </a:bodyPr>
          <a:lstStyle/>
          <a:p>
            <a:pPr>
              <a:lnSpc>
                <a:spcPct val="108000"/>
              </a:lnSpc>
              <a:spcAft>
                <a:spcPts val="800"/>
              </a:spcAft>
              <a:defRPr sz="2000" b="1">
                <a:solidFill>
                  <a:srgbClr val="00786B"/>
                </a:solidFill>
                <a:latin typeface="Arial"/>
              </a:defRPr>
            </a:pPr>
            <a:r>
              <a:t>C++17  ·  POSIX  ·  Productor-consumidor  ·  Pruebas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01 / PROBLEMA Y RESTRICCIONES</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Un alcance pequeño, con criterios verificables</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02 / 15</a:t>
            </a:r>
          </a:p>
        </p:txBody>
      </p:sp>
      <p:sp>
        <p:nvSpPr>
          <p:cNvPr id="8" name="TextBox 7"/>
          <p:cNvSpPr txBox="1"/>
          <p:nvPr/>
        </p:nvSpPr>
        <p:spPr>
          <a:xfrm>
            <a:off x="731520" y="1874519"/>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Servicio</a:t>
            </a:r>
          </a:p>
        </p:txBody>
      </p:sp>
      <p:sp>
        <p:nvSpPr>
          <p:cNvPr id="9" name="TextBox 8"/>
          <p:cNvSpPr txBox="1"/>
          <p:nvPr/>
        </p:nvSpPr>
        <p:spPr>
          <a:xfrm>
            <a:off x="3886200" y="1874519"/>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Comandos de texto y JSON sobre una conexión TCP.</a:t>
            </a:r>
          </a:p>
        </p:txBody>
      </p:sp>
      <p:sp>
        <p:nvSpPr>
          <p:cNvPr id="10" name="Rectangle 9"/>
          <p:cNvSpPr/>
          <p:nvPr/>
        </p:nvSpPr>
        <p:spPr>
          <a:xfrm>
            <a:off x="731520" y="26700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889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Concurrencia</a:t>
            </a:r>
          </a:p>
        </p:txBody>
      </p:sp>
      <p:sp>
        <p:nvSpPr>
          <p:cNvPr id="12" name="TextBox 11"/>
          <p:cNvSpPr txBox="1"/>
          <p:nvPr/>
        </p:nvSpPr>
        <p:spPr>
          <a:xfrm>
            <a:off x="3886200" y="27889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Varios clientes, número fijo de trabajadores.</a:t>
            </a:r>
          </a:p>
        </p:txBody>
      </p:sp>
      <p:sp>
        <p:nvSpPr>
          <p:cNvPr id="13" name="Rectangle 12"/>
          <p:cNvSpPr/>
          <p:nvPr/>
        </p:nvSpPr>
        <p:spPr>
          <a:xfrm>
            <a:off x="731520" y="35844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033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Sobrecarga</a:t>
            </a:r>
          </a:p>
        </p:txBody>
      </p:sp>
      <p:sp>
        <p:nvSpPr>
          <p:cNvPr id="15" name="TextBox 14"/>
          <p:cNvSpPr txBox="1"/>
          <p:nvPr/>
        </p:nvSpPr>
        <p:spPr>
          <a:xfrm>
            <a:off x="3886200" y="37033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Cola acotada y una política explícita de rechazo.</a:t>
            </a:r>
          </a:p>
        </p:txBody>
      </p:sp>
      <p:sp>
        <p:nvSpPr>
          <p:cNvPr id="16" name="Rectangle 15"/>
          <p:cNvSpPr/>
          <p:nvPr/>
        </p:nvSpPr>
        <p:spPr>
          <a:xfrm>
            <a:off x="731520" y="44988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177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Ciclo de vida</a:t>
            </a:r>
          </a:p>
        </p:txBody>
      </p:sp>
      <p:sp>
        <p:nvSpPr>
          <p:cNvPr id="18" name="TextBox 17"/>
          <p:cNvSpPr txBox="1"/>
          <p:nvPr/>
        </p:nvSpPr>
        <p:spPr>
          <a:xfrm>
            <a:off x="3886200" y="46177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Interrumpir conexiones y esperar al terminar.</a:t>
            </a:r>
          </a:p>
        </p:txBody>
      </p:sp>
      <p:sp>
        <p:nvSpPr>
          <p:cNvPr id="19" name="Rectangle 18"/>
          <p:cNvSpPr/>
          <p:nvPr/>
        </p:nvSpPr>
        <p:spPr>
          <a:xfrm>
            <a:off x="731520" y="54132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02 / ARQUITECTURA</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Separar transporte y protocolo facilita probar</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03 / 15</a:t>
            </a:r>
          </a:p>
        </p:txBody>
      </p:sp>
      <p:sp>
        <p:nvSpPr>
          <p:cNvPr id="8" name="Rectangle 7"/>
          <p:cNvSpPr/>
          <p:nvPr/>
        </p:nvSpPr>
        <p:spPr>
          <a:xfrm>
            <a:off x="594360"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Cliente</a:t>
            </a:r>
          </a:p>
        </p:txBody>
      </p:sp>
      <p:sp>
        <p:nvSpPr>
          <p:cNvPr id="10" name="TextBox 9"/>
          <p:cNvSpPr txBox="1"/>
          <p:nvPr/>
        </p:nvSpPr>
        <p:spPr>
          <a:xfrm>
            <a:off x="740664"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nc / TCP</a:t>
            </a:r>
          </a:p>
        </p:txBody>
      </p:sp>
      <p:sp>
        <p:nvSpPr>
          <p:cNvPr id="11" name="Chevron 10"/>
          <p:cNvSpPr/>
          <p:nvPr/>
        </p:nvSpPr>
        <p:spPr>
          <a:xfrm>
            <a:off x="3140964"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3572"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9876"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TcpServer</a:t>
            </a:r>
          </a:p>
        </p:txBody>
      </p:sp>
      <p:sp>
        <p:nvSpPr>
          <p:cNvPr id="14" name="TextBox 13"/>
          <p:cNvSpPr txBox="1"/>
          <p:nvPr/>
        </p:nvSpPr>
        <p:spPr>
          <a:xfrm>
            <a:off x="3579876"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Transporte y pool</a:t>
            </a:r>
          </a:p>
        </p:txBody>
      </p:sp>
      <p:sp>
        <p:nvSpPr>
          <p:cNvPr id="15" name="Chevron 14"/>
          <p:cNvSpPr/>
          <p:nvPr/>
        </p:nvSpPr>
        <p:spPr>
          <a:xfrm>
            <a:off x="5980175"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LineProtocol</a:t>
            </a:r>
          </a:p>
        </p:txBody>
      </p:sp>
      <p:sp>
        <p:nvSpPr>
          <p:cNvPr id="18" name="TextBox 17"/>
          <p:cNvSpPr txBox="1"/>
          <p:nvPr/>
        </p:nvSpPr>
        <p:spPr>
          <a:xfrm>
            <a:off x="6419088"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Interpretación</a:t>
            </a:r>
          </a:p>
        </p:txBody>
      </p:sp>
      <p:sp>
        <p:nvSpPr>
          <p:cNvPr id="19" name="Chevron 18"/>
          <p:cNvSpPr/>
          <p:nvPr/>
        </p:nvSpPr>
        <p:spPr>
          <a:xfrm>
            <a:off x="8819388"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11996"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8300"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Resultado</a:t>
            </a:r>
          </a:p>
        </p:txBody>
      </p:sp>
      <p:sp>
        <p:nvSpPr>
          <p:cNvPr id="22" name="TextBox 21"/>
          <p:cNvSpPr txBox="1"/>
          <p:nvPr/>
        </p:nvSpPr>
        <p:spPr>
          <a:xfrm>
            <a:off x="9258300"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Texto + cierre</a:t>
            </a:r>
          </a:p>
        </p:txBody>
      </p:sp>
      <p:sp>
        <p:nvSpPr>
          <p:cNvPr id="23" name="TextBox 22"/>
          <p:cNvSpPr txBox="1"/>
          <p:nvPr/>
        </p:nvSpPr>
        <p:spPr>
          <a:xfrm>
            <a:off x="731520" y="4160520"/>
            <a:ext cx="5120640" cy="914400"/>
          </a:xfrm>
          <a:prstGeom prst="rect">
            <a:avLst/>
          </a:prstGeom>
          <a:noFill/>
        </p:spPr>
        <p:txBody>
          <a:bodyPr wrap="square" lIns="0" rIns="0" tIns="0" bIns="0">
            <a:spAutoFit/>
          </a:bodyPr>
          <a:lstStyle/>
          <a:p>
            <a:pPr>
              <a:lnSpc>
                <a:spcPct val="108000"/>
              </a:lnSpc>
              <a:spcAft>
                <a:spcPts val="800"/>
              </a:spcAft>
              <a:defRPr sz="2300" b="0">
                <a:solidFill>
                  <a:srgbClr val="20282B"/>
                </a:solidFill>
                <a:latin typeface="Arial"/>
              </a:defRPr>
            </a:pPr>
            <a:r>
              <a:t>main.cpp</a:t>
            </a:r>
          </a:p>
          <a:p>
            <a:pPr>
              <a:lnSpc>
                <a:spcPct val="108000"/>
              </a:lnSpc>
              <a:spcAft>
                <a:spcPts val="800"/>
              </a:spcAft>
              <a:defRPr sz="2300" b="0">
                <a:solidFill>
                  <a:srgbClr val="20282B"/>
                </a:solidFill>
                <a:latin typeface="Arial"/>
              </a:defRPr>
            </a:pPr>
            <a:r>
              <a:t>Configuración y arranque</a:t>
            </a:r>
          </a:p>
        </p:txBody>
      </p:sp>
      <p:sp>
        <p:nvSpPr>
          <p:cNvPr id="24" name="TextBox 23"/>
          <p:cNvSpPr txBox="1"/>
          <p:nvPr/>
        </p:nvSpPr>
        <p:spPr>
          <a:xfrm>
            <a:off x="6217920" y="4160520"/>
            <a:ext cx="5120640" cy="914400"/>
          </a:xfrm>
          <a:prstGeom prst="rect">
            <a:avLst/>
          </a:prstGeom>
          <a:noFill/>
        </p:spPr>
        <p:txBody>
          <a:bodyPr wrap="square" lIns="0" rIns="0" tIns="0" bIns="0">
            <a:spAutoFit/>
          </a:bodyPr>
          <a:lstStyle/>
          <a:p>
            <a:pPr>
              <a:lnSpc>
                <a:spcPct val="108000"/>
              </a:lnSpc>
              <a:spcAft>
                <a:spcPts val="800"/>
              </a:spcAft>
              <a:defRPr sz="2300" b="0">
                <a:solidFill>
                  <a:srgbClr val="20282B"/>
                </a:solidFill>
                <a:latin typeface="Arial"/>
              </a:defRPr>
            </a:pPr>
            <a:r>
              <a:t>ServerStats</a:t>
            </a:r>
          </a:p>
          <a:p>
            <a:pPr>
              <a:lnSpc>
                <a:spcPct val="108000"/>
              </a:lnSpc>
              <a:spcAft>
                <a:spcPts val="800"/>
              </a:spcAft>
              <a:defRPr sz="2300" b="0">
                <a:solidFill>
                  <a:srgbClr val="20282B"/>
                </a:solidFill>
                <a:latin typeface="Arial"/>
              </a:defRPr>
            </a:pPr>
            <a:r>
              <a:t>Estado observable del servicio</a:t>
            </a:r>
          </a:p>
        </p:txBody>
      </p:sp>
      <p:sp>
        <p:nvSpPr>
          <p:cNvPr id="25" name="Rectangle 24"/>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La lógica del comando no depende de recv(), send() ni del socket.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03 / PROTOCOLO Y E/S</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El contrato empieza por delimitar los mensajes</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04 / 15</a:t>
            </a:r>
          </a:p>
        </p:txBody>
      </p:sp>
      <p:sp>
        <p:nvSpPr>
          <p:cNvPr id="8" name="Rectangle 7"/>
          <p:cNvSpPr/>
          <p:nvPr/>
        </p:nvSpPr>
        <p:spPr>
          <a:xfrm>
            <a:off x="594360" y="1920240"/>
            <a:ext cx="10972800" cy="1691640"/>
          </a:xfrm>
          <a:prstGeom prst="rect">
            <a:avLst/>
          </a:prstGeom>
          <a:solidFill>
            <a:srgbClr val="202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03120"/>
            <a:ext cx="10515600" cy="1325880"/>
          </a:xfrm>
          <a:prstGeom prst="rect">
            <a:avLst/>
          </a:prstGeom>
          <a:noFill/>
        </p:spPr>
        <p:txBody>
          <a:bodyPr wrap="square" lIns="0" rIns="0" tIns="0" bIns="0">
            <a:spAutoFit/>
          </a:bodyPr>
          <a:lstStyle/>
          <a:p>
            <a:pPr>
              <a:lnSpc>
                <a:spcPct val="108000"/>
              </a:lnSpc>
              <a:spcAft>
                <a:spcPts val="800"/>
              </a:spcAft>
              <a:defRPr sz="1900" b="0">
                <a:solidFill>
                  <a:srgbClr val="FFFFFF"/>
                </a:solidFill>
                <a:latin typeface="Courier New"/>
              </a:defRPr>
            </a:pPr>
            <a:r>
              <a:t>PING\n                         -&gt; PONG\n</a:t>
            </a:r>
          </a:p>
          <a:p>
            <a:pPr>
              <a:lnSpc>
                <a:spcPct val="108000"/>
              </a:lnSpc>
              <a:spcAft>
                <a:spcPts val="800"/>
              </a:spcAft>
              <a:defRPr sz="1900" b="0">
                <a:solidFill>
                  <a:srgbClr val="FFFFFF"/>
                </a:solidFill>
                <a:latin typeface="Courier New"/>
              </a:defRPr>
            </a:pPr>
            <a:r>
              <a:t>{"command":"ECHO","text":"hola"} -&gt; hola\n</a:t>
            </a:r>
          </a:p>
          <a:p>
            <a:pPr>
              <a:lnSpc>
                <a:spcPct val="108000"/>
              </a:lnSpc>
              <a:spcAft>
                <a:spcPts val="800"/>
              </a:spcAft>
              <a:defRPr sz="1900" b="0">
                <a:solidFill>
                  <a:srgbClr val="FFFFFF"/>
                </a:solidFill>
                <a:latin typeface="Courier New"/>
              </a:defRPr>
            </a:pPr>
            <a:r>
              <a:t>QUIT\n                         -&gt; BYE\n + cierre</a:t>
            </a:r>
          </a:p>
        </p:txBody>
      </p:sp>
      <p:sp>
        <p:nvSpPr>
          <p:cNvPr id="10" name="TextBox 9"/>
          <p:cNvSpPr txBox="1"/>
          <p:nvPr/>
        </p:nvSpPr>
        <p:spPr>
          <a:xfrm>
            <a:off x="731520" y="4069080"/>
            <a:ext cx="5120640" cy="1005840"/>
          </a:xfrm>
          <a:prstGeom prst="rect">
            <a:avLst/>
          </a:prstGeom>
          <a:noFill/>
        </p:spPr>
        <p:txBody>
          <a:bodyPr wrap="square" lIns="0" rIns="0" tIns="0" bIns="0">
            <a:spAutoFit/>
          </a:bodyPr>
          <a:lstStyle/>
          <a:p>
            <a:pPr>
              <a:lnSpc>
                <a:spcPct val="108000"/>
              </a:lnSpc>
              <a:spcAft>
                <a:spcPts val="800"/>
              </a:spcAft>
              <a:defRPr sz="2200" b="0">
                <a:solidFill>
                  <a:srgbClr val="20282B"/>
                </a:solidFill>
                <a:latin typeface="Arial"/>
              </a:defRPr>
            </a:pPr>
            <a:r>
              <a:t>Lectura</a:t>
            </a:r>
          </a:p>
          <a:p>
            <a:pPr>
              <a:lnSpc>
                <a:spcPct val="108000"/>
              </a:lnSpc>
              <a:spcAft>
                <a:spcPts val="800"/>
              </a:spcAft>
              <a:defRPr sz="2200" b="0">
                <a:solidFill>
                  <a:srgbClr val="20282B"/>
                </a:solidFill>
                <a:latin typeface="Arial"/>
              </a:defRPr>
            </a:pPr>
            <a:r>
              <a:t>Framing por línea y tamaño limitado</a:t>
            </a:r>
          </a:p>
        </p:txBody>
      </p:sp>
      <p:sp>
        <p:nvSpPr>
          <p:cNvPr id="11" name="TextBox 10"/>
          <p:cNvSpPr txBox="1"/>
          <p:nvPr/>
        </p:nvSpPr>
        <p:spPr>
          <a:xfrm>
            <a:off x="6217920" y="4069080"/>
            <a:ext cx="5120640" cy="1005840"/>
          </a:xfrm>
          <a:prstGeom prst="rect">
            <a:avLst/>
          </a:prstGeom>
          <a:noFill/>
        </p:spPr>
        <p:txBody>
          <a:bodyPr wrap="square" lIns="0" rIns="0" tIns="0" bIns="0">
            <a:spAutoFit/>
          </a:bodyPr>
          <a:lstStyle/>
          <a:p>
            <a:pPr>
              <a:lnSpc>
                <a:spcPct val="108000"/>
              </a:lnSpc>
              <a:spcAft>
                <a:spcPts val="800"/>
              </a:spcAft>
              <a:defRPr sz="2200" b="0">
                <a:solidFill>
                  <a:srgbClr val="20282B"/>
                </a:solidFill>
                <a:latin typeface="Arial"/>
              </a:defRPr>
            </a:pPr>
            <a:r>
              <a:t>Escritura</a:t>
            </a:r>
          </a:p>
          <a:p>
            <a:pPr>
              <a:lnSpc>
                <a:spcPct val="108000"/>
              </a:lnSpc>
              <a:spcAft>
                <a:spcPts val="800"/>
              </a:spcAft>
              <a:defRPr sz="2200" b="0">
                <a:solidFill>
                  <a:srgbClr val="20282B"/>
                </a:solidFill>
                <a:latin typeface="Arial"/>
              </a:defRPr>
            </a:pPr>
            <a:r>
              <a:t>Completar el envío aunque sea parcial</a:t>
            </a:r>
          </a:p>
        </p:txBody>
      </p:sp>
      <p:sp>
        <p:nvSpPr>
          <p:cNvPr id="12" name="Rectangle 11"/>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Una petición lógica puede necesitar varias operaciones de 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04 / ALTERNATIVAS CONSIDERADAS</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El pool es una decisión de control, no de velocidad</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05 / 15</a:t>
            </a:r>
          </a:p>
        </p:txBody>
      </p:sp>
      <p:sp>
        <p:nvSpPr>
          <p:cNvPr id="8" name="TextBox 7"/>
          <p:cNvSpPr txBox="1"/>
          <p:nvPr/>
        </p:nvSpPr>
        <p:spPr>
          <a:xfrm>
            <a:off x="731520" y="20116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Un hilo por cliente</a:t>
            </a:r>
          </a:p>
        </p:txBody>
      </p:sp>
      <p:sp>
        <p:nvSpPr>
          <p:cNvPr id="9" name="TextBox 8"/>
          <p:cNvSpPr txBox="1"/>
          <p:nvPr/>
        </p:nvSpPr>
        <p:spPr>
          <a:xfrm>
            <a:off x="3886200" y="20116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Implementación inicial: sencilla, sin límite de hilos.</a:t>
            </a:r>
          </a:p>
        </p:txBody>
      </p:sp>
      <p:sp>
        <p:nvSpPr>
          <p:cNvPr id="10" name="Rectangle 9"/>
          <p:cNvSpPr/>
          <p:nvPr/>
        </p:nvSpPr>
        <p:spPr>
          <a:xfrm>
            <a:off x="731520" y="28072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260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Pool fijo · elegido</a:t>
            </a:r>
          </a:p>
        </p:txBody>
      </p:sp>
      <p:sp>
        <p:nvSpPr>
          <p:cNvPr id="12" name="TextBox 11"/>
          <p:cNvSpPr txBox="1"/>
          <p:nvPr/>
        </p:nvSpPr>
        <p:spPr>
          <a:xfrm>
            <a:off x="3886200" y="29260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Reutilización de hilos, admisión acotada y join.</a:t>
            </a:r>
          </a:p>
        </p:txBody>
      </p:sp>
      <p:sp>
        <p:nvSpPr>
          <p:cNvPr id="13" name="Rectangle 12"/>
          <p:cNvSpPr/>
          <p:nvPr/>
        </p:nvSpPr>
        <p:spPr>
          <a:xfrm>
            <a:off x="731520" y="37216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404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Event loop</a:t>
            </a:r>
          </a:p>
        </p:txBody>
      </p:sp>
      <p:sp>
        <p:nvSpPr>
          <p:cNvPr id="15" name="TextBox 14"/>
          <p:cNvSpPr txBox="1"/>
          <p:nvPr/>
        </p:nvSpPr>
        <p:spPr>
          <a:xfrm>
            <a:off x="3886200" y="38404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Alternativa para muchas conexiones; aún no implementada.</a:t>
            </a:r>
          </a:p>
        </p:txBody>
      </p:sp>
      <p:sp>
        <p:nvSpPr>
          <p:cNvPr id="16" name="Rectangle 15"/>
          <p:cNvSpPr/>
          <p:nvPr/>
        </p:nvSpPr>
        <p:spPr>
          <a:xfrm>
            <a:off x="731520" y="46360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Sin benchmark no afirmo una mejora de rendimiento: sí un límite de recursos.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05 / PRODUCTOR-CONSUMIDOR</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La unidad de trabajo es una conexión completa</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06 / 15</a:t>
            </a:r>
          </a:p>
        </p:txBody>
      </p:sp>
      <p:sp>
        <p:nvSpPr>
          <p:cNvPr id="8" name="Rectangle 7"/>
          <p:cNvSpPr/>
          <p:nvPr/>
        </p:nvSpPr>
        <p:spPr>
          <a:xfrm>
            <a:off x="594360"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Productor</a:t>
            </a:r>
          </a:p>
        </p:txBody>
      </p:sp>
      <p:sp>
        <p:nvSpPr>
          <p:cNvPr id="10" name="TextBox 9"/>
          <p:cNvSpPr txBox="1"/>
          <p:nvPr/>
        </p:nvSpPr>
        <p:spPr>
          <a:xfrm>
            <a:off x="740664"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poll → accept</a:t>
            </a:r>
          </a:p>
        </p:txBody>
      </p:sp>
      <p:sp>
        <p:nvSpPr>
          <p:cNvPr id="11" name="Chevron 10"/>
          <p:cNvSpPr/>
          <p:nvPr/>
        </p:nvSpPr>
        <p:spPr>
          <a:xfrm>
            <a:off x="3140964"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3572"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9876"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Cola acotada</a:t>
            </a:r>
          </a:p>
        </p:txBody>
      </p:sp>
      <p:sp>
        <p:nvSpPr>
          <p:cNvPr id="14" name="TextBox 13"/>
          <p:cNvSpPr txBox="1"/>
          <p:nvPr/>
        </p:nvSpPr>
        <p:spPr>
          <a:xfrm>
            <a:off x="3579876"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16 pendientes</a:t>
            </a:r>
          </a:p>
        </p:txBody>
      </p:sp>
      <p:sp>
        <p:nvSpPr>
          <p:cNvPr id="15" name="Chevron 14"/>
          <p:cNvSpPr/>
          <p:nvPr/>
        </p:nvSpPr>
        <p:spPr>
          <a:xfrm>
            <a:off x="5980175"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Pool fijo</a:t>
            </a:r>
          </a:p>
        </p:txBody>
      </p:sp>
      <p:sp>
        <p:nvSpPr>
          <p:cNvPr id="18" name="TextBox 17"/>
          <p:cNvSpPr txBox="1"/>
          <p:nvPr/>
        </p:nvSpPr>
        <p:spPr>
          <a:xfrm>
            <a:off x="6419088"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4 trabajadores</a:t>
            </a:r>
          </a:p>
        </p:txBody>
      </p:sp>
      <p:sp>
        <p:nvSpPr>
          <p:cNvPr id="19" name="Chevron 18"/>
          <p:cNvSpPr/>
          <p:nvPr/>
        </p:nvSpPr>
        <p:spPr>
          <a:xfrm>
            <a:off x="8819388"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11996"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8300"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Cliente</a:t>
            </a:r>
          </a:p>
        </p:txBody>
      </p:sp>
      <p:sp>
        <p:nvSpPr>
          <p:cNvPr id="22" name="TextBox 21"/>
          <p:cNvSpPr txBox="1"/>
          <p:nvPr/>
        </p:nvSpPr>
        <p:spPr>
          <a:xfrm>
            <a:off x="9258300"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handle_client</a:t>
            </a:r>
          </a:p>
        </p:txBody>
      </p:sp>
      <p:sp>
        <p:nvSpPr>
          <p:cNvPr id="23" name="TextBox 22"/>
          <p:cNvSpPr txBox="1"/>
          <p:nvPr/>
        </p:nvSpPr>
        <p:spPr>
          <a:xfrm>
            <a:off x="731520" y="4114800"/>
            <a:ext cx="10698480" cy="822960"/>
          </a:xfrm>
          <a:prstGeom prst="rect">
            <a:avLst/>
          </a:prstGeom>
          <a:noFill/>
        </p:spPr>
        <p:txBody>
          <a:bodyPr wrap="square" lIns="0" rIns="0" tIns="0" bIns="0">
            <a:spAutoFit/>
          </a:bodyPr>
          <a:lstStyle/>
          <a:p>
            <a:pPr>
              <a:lnSpc>
                <a:spcPct val="108000"/>
              </a:lnSpc>
              <a:spcAft>
                <a:spcPts val="800"/>
              </a:spcAft>
              <a:defRPr sz="2400" b="0">
                <a:solidFill>
                  <a:srgbClr val="20282B"/>
                </a:solidFill>
                <a:latin typeface="Arial"/>
              </a:defRPr>
            </a:pPr>
            <a:r>
              <a:t>Sin plazas → rechazar la conexión.</a:t>
            </a:r>
          </a:p>
          <a:p>
            <a:pPr>
              <a:lnSpc>
                <a:spcPct val="108000"/>
              </a:lnSpc>
              <a:spcAft>
                <a:spcPts val="800"/>
              </a:spcAft>
              <a:defRPr sz="2400" b="0">
                <a:solidFill>
                  <a:srgbClr val="20282B"/>
                </a:solidFill>
                <a:latin typeface="Arial"/>
              </a:defRPr>
            </a:pPr>
            <a:r>
              <a:t>Sin datos del cliente → el trabajador queda ocupado.</a:t>
            </a:r>
          </a:p>
        </p:txBody>
      </p:sp>
      <p:sp>
        <p:nvSpPr>
          <p:cNvPr id="24" name="Rectangle 23"/>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Acotar hilos y cola no convierte la E/S bloqueante en asíncrona.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06 / MUTEX Y CONDICIÓN</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Sincronización: proteger estado, no toda la petición</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07 / 15</a:t>
            </a:r>
          </a:p>
        </p:txBody>
      </p:sp>
      <p:sp>
        <p:nvSpPr>
          <p:cNvPr id="8" name="Rectangle 7"/>
          <p:cNvSpPr/>
          <p:nvPr/>
        </p:nvSpPr>
        <p:spPr>
          <a:xfrm>
            <a:off x="594360" y="1874519"/>
            <a:ext cx="10972800" cy="1874519"/>
          </a:xfrm>
          <a:prstGeom prst="rect">
            <a:avLst/>
          </a:prstGeom>
          <a:solidFill>
            <a:srgbClr val="202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10515600" cy="1508760"/>
          </a:xfrm>
          <a:prstGeom prst="rect">
            <a:avLst/>
          </a:prstGeom>
          <a:noFill/>
        </p:spPr>
        <p:txBody>
          <a:bodyPr wrap="square" lIns="0" rIns="0" tIns="0" bIns="0">
            <a:spAutoFit/>
          </a:bodyPr>
          <a:lstStyle/>
          <a:p>
            <a:pPr>
              <a:lnSpc>
                <a:spcPct val="108000"/>
              </a:lnSpc>
              <a:spcAft>
                <a:spcPts val="800"/>
              </a:spcAft>
              <a:defRPr sz="1900" b="0">
                <a:solidFill>
                  <a:srgbClr val="FFFFFF"/>
                </a:solidFill>
                <a:latin typeface="Courier New"/>
              </a:defRPr>
            </a:pPr>
            <a:r>
              <a:t>std::unique_lock&lt;std::mutex&gt; lock(clients_mutex_);</a:t>
            </a:r>
          </a:p>
          <a:p>
            <a:pPr>
              <a:lnSpc>
                <a:spcPct val="108000"/>
              </a:lnSpc>
              <a:spcAft>
                <a:spcPts val="800"/>
              </a:spcAft>
              <a:defRPr sz="1900" b="0">
                <a:solidFill>
                  <a:srgbClr val="FFFFFF"/>
                </a:solidFill>
                <a:latin typeface="Courier New"/>
              </a:defRPr>
            </a:pPr>
            <a:r>
              <a:t>clients_ready_.wait(lock, [this] {</a:t>
            </a:r>
          </a:p>
          <a:p>
            <a:pPr>
              <a:lnSpc>
                <a:spcPct val="108000"/>
              </a:lnSpc>
              <a:spcAft>
                <a:spcPts val="800"/>
              </a:spcAft>
              <a:defRPr sz="1900" b="0">
                <a:solidFill>
                  <a:srgbClr val="FFFFFF"/>
                </a:solidFill>
                <a:latin typeface="Courier New"/>
              </a:defRPr>
            </a:pPr>
            <a:r>
              <a:t>    return stopping_ || !pending_clients_.empty();</a:t>
            </a:r>
          </a:p>
          <a:p>
            <a:pPr>
              <a:lnSpc>
                <a:spcPct val="108000"/>
              </a:lnSpc>
              <a:spcAft>
                <a:spcPts val="800"/>
              </a:spcAft>
              <a:defRPr sz="1900" b="0">
                <a:solidFill>
                  <a:srgbClr val="FFFFFF"/>
                </a:solidFill>
                <a:latin typeface="Courier New"/>
              </a:defRPr>
            </a:pPr>
            <a:r>
              <a:t>});</a:t>
            </a:r>
          </a:p>
        </p:txBody>
      </p:sp>
      <p:sp>
        <p:nvSpPr>
          <p:cNvPr id="10" name="TextBox 9"/>
          <p:cNvSpPr txBox="1"/>
          <p:nvPr/>
        </p:nvSpPr>
        <p:spPr>
          <a:xfrm>
            <a:off x="731520" y="4160520"/>
            <a:ext cx="5166360" cy="914400"/>
          </a:xfrm>
          <a:prstGeom prst="rect">
            <a:avLst/>
          </a:prstGeom>
          <a:noFill/>
        </p:spPr>
        <p:txBody>
          <a:bodyPr wrap="square" lIns="0" rIns="0" tIns="0" bIns="0">
            <a:spAutoFit/>
          </a:bodyPr>
          <a:lstStyle/>
          <a:p>
            <a:pPr>
              <a:lnSpc>
                <a:spcPct val="108000"/>
              </a:lnSpc>
              <a:spcAft>
                <a:spcPts val="800"/>
              </a:spcAft>
              <a:defRPr sz="2300" b="0">
                <a:solidFill>
                  <a:srgbClr val="20282B"/>
                </a:solidFill>
                <a:latin typeface="Arial"/>
              </a:defRPr>
            </a:pPr>
            <a:r>
              <a:t>Bajo mutex</a:t>
            </a:r>
          </a:p>
          <a:p>
            <a:pPr>
              <a:lnSpc>
                <a:spcPct val="108000"/>
              </a:lnSpc>
              <a:spcAft>
                <a:spcPts val="800"/>
              </a:spcAft>
              <a:defRPr sz="2300" b="0">
                <a:solidFill>
                  <a:srgbClr val="20282B"/>
                </a:solidFill>
                <a:latin typeface="Arial"/>
              </a:defRPr>
            </a:pPr>
            <a:r>
              <a:t>Extraer y registrar la conexión</a:t>
            </a:r>
          </a:p>
        </p:txBody>
      </p:sp>
      <p:sp>
        <p:nvSpPr>
          <p:cNvPr id="11" name="TextBox 10"/>
          <p:cNvSpPr txBox="1"/>
          <p:nvPr/>
        </p:nvSpPr>
        <p:spPr>
          <a:xfrm>
            <a:off x="6217920" y="4160520"/>
            <a:ext cx="5166360" cy="914400"/>
          </a:xfrm>
          <a:prstGeom prst="rect">
            <a:avLst/>
          </a:prstGeom>
          <a:noFill/>
        </p:spPr>
        <p:txBody>
          <a:bodyPr wrap="square" lIns="0" rIns="0" tIns="0" bIns="0">
            <a:spAutoFit/>
          </a:bodyPr>
          <a:lstStyle/>
          <a:p>
            <a:pPr>
              <a:lnSpc>
                <a:spcPct val="108000"/>
              </a:lnSpc>
              <a:spcAft>
                <a:spcPts val="800"/>
              </a:spcAft>
              <a:defRPr sz="2300" b="0">
                <a:solidFill>
                  <a:srgbClr val="20282B"/>
                </a:solidFill>
                <a:latin typeface="Arial"/>
              </a:defRPr>
            </a:pPr>
            <a:r>
              <a:t>Fuera del mutex</a:t>
            </a:r>
          </a:p>
          <a:p>
            <a:pPr>
              <a:lnSpc>
                <a:spcPct val="108000"/>
              </a:lnSpc>
              <a:spcAft>
                <a:spcPts val="800"/>
              </a:spcAft>
              <a:defRPr sz="2300" b="0">
                <a:solidFill>
                  <a:srgbClr val="20282B"/>
                </a:solidFill>
                <a:latin typeface="Arial"/>
              </a:defRPr>
            </a:pPr>
            <a:r>
              <a:t>Recibir, procesar y responder</a:t>
            </a:r>
          </a:p>
        </p:txBody>
      </p:sp>
      <p:sp>
        <p:nvSpPr>
          <p:cNvPr id="12" name="Rectangle 11"/>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wait libera el mutex mientras espera; notify_one despierta para volver a comprobar.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07 / RECURSOS Y RESPONSABILIDADES</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La propiedad del socket sigue su ciclo de vida</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08 / 15</a:t>
            </a:r>
          </a:p>
        </p:txBody>
      </p:sp>
      <p:sp>
        <p:nvSpPr>
          <p:cNvPr id="8" name="TextBox 7"/>
          <p:cNvSpPr txBox="1"/>
          <p:nvPr/>
        </p:nvSpPr>
        <p:spPr>
          <a:xfrm>
            <a:off x="731520" y="1874519"/>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Aceptado / rechazado</a:t>
            </a:r>
          </a:p>
        </p:txBody>
      </p:sp>
      <p:sp>
        <p:nvSpPr>
          <p:cNvPr id="9" name="TextBox 8"/>
          <p:cNvSpPr txBox="1"/>
          <p:nvPr/>
        </p:nvSpPr>
        <p:spPr>
          <a:xfrm>
            <a:off x="3886200" y="1874519"/>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El productor cierra si no puede admitirlo.</a:t>
            </a:r>
          </a:p>
        </p:txBody>
      </p:sp>
      <p:sp>
        <p:nvSpPr>
          <p:cNvPr id="10" name="Rectangle 9"/>
          <p:cNvSpPr/>
          <p:nvPr/>
        </p:nvSpPr>
        <p:spPr>
          <a:xfrm>
            <a:off x="731520" y="26700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889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Pendiente</a:t>
            </a:r>
          </a:p>
        </p:txBody>
      </p:sp>
      <p:sp>
        <p:nvSpPr>
          <p:cNvPr id="12" name="TextBox 11"/>
          <p:cNvSpPr txBox="1"/>
          <p:nvPr/>
        </p:nvSpPr>
        <p:spPr>
          <a:xfrm>
            <a:off x="3886200" y="27889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La cola lo conserva; stop() lo descarta y cierra.</a:t>
            </a:r>
          </a:p>
        </p:txBody>
      </p:sp>
      <p:sp>
        <p:nvSpPr>
          <p:cNvPr id="13" name="Rectangle 12"/>
          <p:cNvSpPr/>
          <p:nvPr/>
        </p:nvSpPr>
        <p:spPr>
          <a:xfrm>
            <a:off x="731520" y="35844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033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Activo</a:t>
            </a:r>
          </a:p>
        </p:txBody>
      </p:sp>
      <p:sp>
        <p:nvSpPr>
          <p:cNvPr id="15" name="TextBox 14"/>
          <p:cNvSpPr txBox="1"/>
          <p:nvPr/>
        </p:nvSpPr>
        <p:spPr>
          <a:xfrm>
            <a:off x="3886200" y="37033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El trabajador lo atiende y es responsable de close().</a:t>
            </a:r>
          </a:p>
        </p:txBody>
      </p:sp>
      <p:sp>
        <p:nvSpPr>
          <p:cNvPr id="16" name="Rectangle 15"/>
          <p:cNvSpPr/>
          <p:nvPr/>
        </p:nvSpPr>
        <p:spPr>
          <a:xfrm>
            <a:off x="731520" y="44988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177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Durante la parada</a:t>
            </a:r>
          </a:p>
        </p:txBody>
      </p:sp>
      <p:sp>
        <p:nvSpPr>
          <p:cNvPr id="18" name="TextBox 17"/>
          <p:cNvSpPr txBox="1"/>
          <p:nvPr/>
        </p:nvSpPr>
        <p:spPr>
          <a:xfrm>
            <a:off x="3886200" y="46177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stop() usa shutdown; el cierre permanece en el worker.</a:t>
            </a:r>
          </a:p>
        </p:txBody>
      </p:sp>
      <p:sp>
        <p:nvSpPr>
          <p:cNvPr id="19" name="Rectangle 18"/>
          <p:cNvSpPr/>
          <p:nvPr/>
        </p:nvSpPr>
        <p:spPr>
          <a:xfrm>
            <a:off x="731520" y="54132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08 / TERMINACIÓN COORDINADA</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El apagado también forma parte del diseño</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09 / 15</a:t>
            </a:r>
          </a:p>
        </p:txBody>
      </p:sp>
      <p:sp>
        <p:nvSpPr>
          <p:cNvPr id="8" name="Rectangle 7"/>
          <p:cNvSpPr/>
          <p:nvPr/>
        </p:nvSpPr>
        <p:spPr>
          <a:xfrm>
            <a:off x="594360"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Petición</a:t>
            </a:r>
          </a:p>
        </p:txBody>
      </p:sp>
      <p:sp>
        <p:nvSpPr>
          <p:cNvPr id="10" name="TextBox 9"/>
          <p:cNvSpPr txBox="1"/>
          <p:nvPr/>
        </p:nvSpPr>
        <p:spPr>
          <a:xfrm>
            <a:off x="740664"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SIGINT / SIGTERM</a:t>
            </a:r>
          </a:p>
        </p:txBody>
      </p:sp>
      <p:sp>
        <p:nvSpPr>
          <p:cNvPr id="11" name="Chevron 10"/>
          <p:cNvSpPr/>
          <p:nvPr/>
        </p:nvSpPr>
        <p:spPr>
          <a:xfrm>
            <a:off x="3140964"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3572"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9876"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stop()</a:t>
            </a:r>
          </a:p>
        </p:txBody>
      </p:sp>
      <p:sp>
        <p:nvSpPr>
          <p:cNvPr id="14" name="TextBox 13"/>
          <p:cNvSpPr txBox="1"/>
          <p:nvPr/>
        </p:nvSpPr>
        <p:spPr>
          <a:xfrm>
            <a:off x="3579876"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Descartar + shutdown</a:t>
            </a:r>
          </a:p>
        </p:txBody>
      </p:sp>
      <p:sp>
        <p:nvSpPr>
          <p:cNvPr id="15" name="Chevron 14"/>
          <p:cNvSpPr/>
          <p:nvPr/>
        </p:nvSpPr>
        <p:spPr>
          <a:xfrm>
            <a:off x="5980175"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notify_all</a:t>
            </a:r>
          </a:p>
        </p:txBody>
      </p:sp>
      <p:sp>
        <p:nvSpPr>
          <p:cNvPr id="18" name="TextBox 17"/>
          <p:cNvSpPr txBox="1"/>
          <p:nvPr/>
        </p:nvSpPr>
        <p:spPr>
          <a:xfrm>
            <a:off x="6419088"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Despertar workers</a:t>
            </a:r>
          </a:p>
        </p:txBody>
      </p:sp>
      <p:sp>
        <p:nvSpPr>
          <p:cNvPr id="19" name="Chevron 18"/>
          <p:cNvSpPr/>
          <p:nvPr/>
        </p:nvSpPr>
        <p:spPr>
          <a:xfrm>
            <a:off x="8819388" y="283464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11996" y="228600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8300" y="245059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join</a:t>
            </a:r>
          </a:p>
        </p:txBody>
      </p:sp>
      <p:sp>
        <p:nvSpPr>
          <p:cNvPr id="22" name="TextBox 21"/>
          <p:cNvSpPr txBox="1"/>
          <p:nvPr/>
        </p:nvSpPr>
        <p:spPr>
          <a:xfrm>
            <a:off x="9258300" y="303580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Esperar sin lock</a:t>
            </a:r>
          </a:p>
        </p:txBody>
      </p:sp>
      <p:sp>
        <p:nvSpPr>
          <p:cNvPr id="23" name="TextBox 22"/>
          <p:cNvSpPr txBox="1"/>
          <p:nvPr/>
        </p:nvSpPr>
        <p:spPr>
          <a:xfrm>
            <a:off x="731520" y="4251960"/>
            <a:ext cx="10607040" cy="822960"/>
          </a:xfrm>
          <a:prstGeom prst="rect">
            <a:avLst/>
          </a:prstGeom>
          <a:noFill/>
        </p:spPr>
        <p:txBody>
          <a:bodyPr wrap="square" lIns="0" rIns="0" tIns="0" bIns="0">
            <a:spAutoFit/>
          </a:bodyPr>
          <a:lstStyle/>
          <a:p>
            <a:pPr>
              <a:lnSpc>
                <a:spcPct val="108000"/>
              </a:lnSpc>
              <a:spcAft>
                <a:spcPts val="800"/>
              </a:spcAft>
              <a:defRPr sz="2400" b="0">
                <a:solidFill>
                  <a:srgbClr val="20282B"/>
                </a:solidFill>
                <a:latin typeface="Arial"/>
              </a:defRPr>
            </a:pPr>
            <a:r>
              <a:t>Cerrar la escucha después de esperar a los trabajadores.</a:t>
            </a:r>
          </a:p>
          <a:p>
            <a:pPr>
              <a:lnSpc>
                <a:spcPct val="108000"/>
              </a:lnSpc>
              <a:spcAft>
                <a:spcPts val="800"/>
              </a:spcAft>
              <a:defRPr sz="2400" b="0">
                <a:solidFill>
                  <a:srgbClr val="20282B"/>
                </a:solidFill>
                <a:latin typeface="Arial"/>
              </a:defRPr>
            </a:pPr>
            <a:r>
              <a:t>No se garantiza completar respuestas en curso.</a:t>
            </a:r>
          </a:p>
        </p:txBody>
      </p:sp>
      <p:sp>
        <p:nvSpPr>
          <p:cNvPr id="24" name="Rectangle 23"/>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No usar mutex en el manejador de señales; no hacer join manteniendo el mutex.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09 / 90 SEGUNDOS DE EJECUCIÓN</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Demo: observar la política de admisión</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10 / 15</a:t>
            </a:r>
          </a:p>
        </p:txBody>
      </p:sp>
      <p:sp>
        <p:nvSpPr>
          <p:cNvPr id="8" name="Rectangle 7"/>
          <p:cNvSpPr/>
          <p:nvPr/>
        </p:nvSpPr>
        <p:spPr>
          <a:xfrm>
            <a:off x="594360" y="1874519"/>
            <a:ext cx="10972800" cy="868680"/>
          </a:xfrm>
          <a:prstGeom prst="rect">
            <a:avLst/>
          </a:prstGeom>
          <a:solidFill>
            <a:srgbClr val="202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10515600" cy="502919"/>
          </a:xfrm>
          <a:prstGeom prst="rect">
            <a:avLst/>
          </a:prstGeom>
          <a:noFill/>
        </p:spPr>
        <p:txBody>
          <a:bodyPr wrap="square" lIns="0" rIns="0" tIns="0" bIns="0">
            <a:spAutoFit/>
          </a:bodyPr>
          <a:lstStyle/>
          <a:p>
            <a:pPr>
              <a:lnSpc>
                <a:spcPct val="108000"/>
              </a:lnSpc>
              <a:spcAft>
                <a:spcPts val="800"/>
              </a:spcAft>
              <a:defRPr sz="2100" b="0">
                <a:solidFill>
                  <a:srgbClr val="FFFFFF"/>
                </a:solidFill>
                <a:latin typeface="Courier New"/>
              </a:defRPr>
            </a:pPr>
            <a:r>
              <a:t>./build/tcp_server --workers 1 --queue-capacity 1</a:t>
            </a:r>
          </a:p>
        </p:txBody>
      </p:sp>
      <p:sp>
        <p:nvSpPr>
          <p:cNvPr id="10" name="TextBox 9"/>
          <p:cNvSpPr txBox="1"/>
          <p:nvPr/>
        </p:nvSpPr>
        <p:spPr>
          <a:xfrm>
            <a:off x="731520" y="3246120"/>
            <a:ext cx="3291840" cy="548640"/>
          </a:xfrm>
          <a:prstGeom prst="rect">
            <a:avLst/>
          </a:prstGeom>
          <a:noFill/>
        </p:spPr>
        <p:txBody>
          <a:bodyPr wrap="square" lIns="0" rIns="0" tIns="0" bIns="0">
            <a:spAutoFit/>
          </a:bodyPr>
          <a:lstStyle/>
          <a:p>
            <a:pPr>
              <a:lnSpc>
                <a:spcPct val="108000"/>
              </a:lnSpc>
              <a:spcAft>
                <a:spcPts val="800"/>
              </a:spcAft>
              <a:defRPr sz="2400" b="1">
                <a:solidFill>
                  <a:srgbClr val="00786B"/>
                </a:solidFill>
                <a:latin typeface="Arial"/>
              </a:defRPr>
            </a:pPr>
            <a:r>
              <a:t>A · activo</a:t>
            </a:r>
          </a:p>
        </p:txBody>
      </p:sp>
      <p:sp>
        <p:nvSpPr>
          <p:cNvPr id="11" name="TextBox 10"/>
          <p:cNvSpPr txBox="1"/>
          <p:nvPr/>
        </p:nvSpPr>
        <p:spPr>
          <a:xfrm>
            <a:off x="731520" y="3977639"/>
            <a:ext cx="3291840" cy="105156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Recibe el saludo.</a:t>
            </a:r>
          </a:p>
          <a:p>
            <a:pPr>
              <a:lnSpc>
                <a:spcPct val="108000"/>
              </a:lnSpc>
              <a:spcAft>
                <a:spcPts val="800"/>
              </a:spcAft>
              <a:defRPr sz="2100" b="0">
                <a:solidFill>
                  <a:srgbClr val="20282B"/>
                </a:solidFill>
                <a:latin typeface="Arial"/>
              </a:defRPr>
            </a:pPr>
            <a:r>
              <a:t>Ocupa el trabajador.</a:t>
            </a:r>
          </a:p>
        </p:txBody>
      </p:sp>
      <p:sp>
        <p:nvSpPr>
          <p:cNvPr id="12" name="TextBox 11"/>
          <p:cNvSpPr txBox="1"/>
          <p:nvPr/>
        </p:nvSpPr>
        <p:spPr>
          <a:xfrm>
            <a:off x="4434840" y="3246120"/>
            <a:ext cx="3291840" cy="548640"/>
          </a:xfrm>
          <a:prstGeom prst="rect">
            <a:avLst/>
          </a:prstGeom>
          <a:noFill/>
        </p:spPr>
        <p:txBody>
          <a:bodyPr wrap="square" lIns="0" rIns="0" tIns="0" bIns="0">
            <a:spAutoFit/>
          </a:bodyPr>
          <a:lstStyle/>
          <a:p>
            <a:pPr>
              <a:lnSpc>
                <a:spcPct val="108000"/>
              </a:lnSpc>
              <a:spcAft>
                <a:spcPts val="800"/>
              </a:spcAft>
              <a:defRPr sz="2400" b="1">
                <a:solidFill>
                  <a:srgbClr val="00786B"/>
                </a:solidFill>
                <a:latin typeface="Arial"/>
              </a:defRPr>
            </a:pPr>
            <a:r>
              <a:t>B · pendiente</a:t>
            </a:r>
          </a:p>
        </p:txBody>
      </p:sp>
      <p:sp>
        <p:nvSpPr>
          <p:cNvPr id="13" name="TextBox 12"/>
          <p:cNvSpPr txBox="1"/>
          <p:nvPr/>
        </p:nvSpPr>
        <p:spPr>
          <a:xfrm>
            <a:off x="4434840" y="3977639"/>
            <a:ext cx="3291840" cy="105156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Conecta sin saludo.</a:t>
            </a:r>
          </a:p>
          <a:p>
            <a:pPr>
              <a:lnSpc>
                <a:spcPct val="108000"/>
              </a:lnSpc>
              <a:spcAft>
                <a:spcPts val="800"/>
              </a:spcAft>
              <a:defRPr sz="2100" b="0">
                <a:solidFill>
                  <a:srgbClr val="20282B"/>
                </a:solidFill>
                <a:latin typeface="Arial"/>
              </a:defRPr>
            </a:pPr>
            <a:r>
              <a:t>Espera en la cola.</a:t>
            </a:r>
          </a:p>
        </p:txBody>
      </p:sp>
      <p:sp>
        <p:nvSpPr>
          <p:cNvPr id="14" name="TextBox 13"/>
          <p:cNvSpPr txBox="1"/>
          <p:nvPr/>
        </p:nvSpPr>
        <p:spPr>
          <a:xfrm>
            <a:off x="8138160" y="3246120"/>
            <a:ext cx="3291840" cy="548640"/>
          </a:xfrm>
          <a:prstGeom prst="rect">
            <a:avLst/>
          </a:prstGeom>
          <a:noFill/>
        </p:spPr>
        <p:txBody>
          <a:bodyPr wrap="square" lIns="0" rIns="0" tIns="0" bIns="0">
            <a:spAutoFit/>
          </a:bodyPr>
          <a:lstStyle/>
          <a:p>
            <a:pPr>
              <a:lnSpc>
                <a:spcPct val="108000"/>
              </a:lnSpc>
              <a:spcAft>
                <a:spcPts val="800"/>
              </a:spcAft>
              <a:defRPr sz="2400" b="1">
                <a:solidFill>
                  <a:srgbClr val="00786B"/>
                </a:solidFill>
                <a:latin typeface="Arial"/>
              </a:defRPr>
            </a:pPr>
            <a:r>
              <a:t>C · rechazado</a:t>
            </a:r>
          </a:p>
        </p:txBody>
      </p:sp>
      <p:sp>
        <p:nvSpPr>
          <p:cNvPr id="15" name="TextBox 14"/>
          <p:cNvSpPr txBox="1"/>
          <p:nvPr/>
        </p:nvSpPr>
        <p:spPr>
          <a:xfrm>
            <a:off x="8138160" y="3977639"/>
            <a:ext cx="3291840" cy="105156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La cola está llena.</a:t>
            </a:r>
          </a:p>
          <a:p>
            <a:pPr>
              <a:lnSpc>
                <a:spcPct val="108000"/>
              </a:lnSpc>
              <a:spcAft>
                <a:spcPts val="800"/>
              </a:spcAft>
              <a:defRPr sz="2100" b="0">
                <a:solidFill>
                  <a:srgbClr val="20282B"/>
                </a:solidFill>
                <a:latin typeface="Arial"/>
              </a:defRPr>
            </a:pPr>
            <a:r>
              <a:t>Se cierra su conexión.</a:t>
            </a:r>
          </a:p>
        </p:txBody>
      </p:sp>
      <p:sp>
        <p:nvSpPr>
          <p:cNvPr id="16" name="Rectangle 15"/>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A envía QUIT → B recibe el saludo. Ctrl+C → el servidor termina.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10 / EVIDENCIA FUNCIONAL</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Las pruebas se centran en los límites del diseño</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11 / 15</a:t>
            </a:r>
          </a:p>
        </p:txBody>
      </p:sp>
      <p:sp>
        <p:nvSpPr>
          <p:cNvPr id="8" name="TextBox 7"/>
          <p:cNvSpPr txBox="1"/>
          <p:nvPr/>
        </p:nvSpPr>
        <p:spPr>
          <a:xfrm>
            <a:off x="731520" y="1874519"/>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Lógica sin red</a:t>
            </a:r>
          </a:p>
        </p:txBody>
      </p:sp>
      <p:sp>
        <p:nvSpPr>
          <p:cNvPr id="9" name="TextBox 8"/>
          <p:cNvSpPr txBox="1"/>
          <p:nvPr/>
        </p:nvSpPr>
        <p:spPr>
          <a:xfrm>
            <a:off x="3886200" y="1874519"/>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Comandos y entradas inválidas: make test.</a:t>
            </a:r>
          </a:p>
        </p:txBody>
      </p:sp>
      <p:sp>
        <p:nvSpPr>
          <p:cNvPr id="10" name="Rectangle 9"/>
          <p:cNvSpPr/>
          <p:nvPr/>
        </p:nvSpPr>
        <p:spPr>
          <a:xfrm>
            <a:off x="731520" y="26700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889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Concurrencia</a:t>
            </a:r>
          </a:p>
        </p:txBody>
      </p:sp>
      <p:sp>
        <p:nvSpPr>
          <p:cNvPr id="12" name="TextBox 11"/>
          <p:cNvSpPr txBox="1"/>
          <p:nvPr/>
        </p:nvSpPr>
        <p:spPr>
          <a:xfrm>
            <a:off x="3886200" y="27889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Cola llena, reutilización y dos clientes simultáneos.</a:t>
            </a:r>
          </a:p>
        </p:txBody>
      </p:sp>
      <p:sp>
        <p:nvSpPr>
          <p:cNvPr id="13" name="Rectangle 12"/>
          <p:cNvSpPr/>
          <p:nvPr/>
        </p:nvSpPr>
        <p:spPr>
          <a:xfrm>
            <a:off x="731520" y="35844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033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Terminación</a:t>
            </a:r>
          </a:p>
        </p:txBody>
      </p:sp>
      <p:sp>
        <p:nvSpPr>
          <p:cNvPr id="15" name="TextBox 14"/>
          <p:cNvSpPr txBox="1"/>
          <p:nvPr/>
        </p:nvSpPr>
        <p:spPr>
          <a:xfrm>
            <a:off x="3886200" y="37033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SIGINT/SIGTERM con activos, pendientes y workers ociosos.</a:t>
            </a:r>
          </a:p>
        </p:txBody>
      </p:sp>
      <p:sp>
        <p:nvSpPr>
          <p:cNvPr id="16" name="Rectangle 15"/>
          <p:cNvSpPr/>
          <p:nvPr/>
        </p:nvSpPr>
        <p:spPr>
          <a:xfrm>
            <a:off x="731520" y="44988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1772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Desconexión abrupta</a:t>
            </a:r>
          </a:p>
        </p:txBody>
      </p:sp>
      <p:sp>
        <p:nvSpPr>
          <p:cNvPr id="18" name="TextBox 17"/>
          <p:cNvSpPr txBox="1"/>
          <p:nvPr/>
        </p:nvSpPr>
        <p:spPr>
          <a:xfrm>
            <a:off x="3886200" y="461772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El proceso sigue atendiendo al siguiente cliente.</a:t>
            </a:r>
          </a:p>
        </p:txBody>
      </p:sp>
      <p:sp>
        <p:nvSpPr>
          <p:cNvPr id="19" name="Rectangle 18"/>
          <p:cNvSpPr/>
          <p:nvPr/>
        </p:nvSpPr>
        <p:spPr>
          <a:xfrm>
            <a:off x="731520" y="541324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11 / MEMORIA Y ANÁLISIS ESTÁTICO</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Cada herramienta aporta una evidencia distinta</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12 / 15</a:t>
            </a:r>
          </a:p>
        </p:txBody>
      </p:sp>
      <p:sp>
        <p:nvSpPr>
          <p:cNvPr id="8" name="TextBox 7"/>
          <p:cNvSpPr txBox="1"/>
          <p:nvPr/>
        </p:nvSpPr>
        <p:spPr>
          <a:xfrm>
            <a:off x="731520" y="20116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Tests</a:t>
            </a:r>
          </a:p>
        </p:txBody>
      </p:sp>
      <p:sp>
        <p:nvSpPr>
          <p:cNvPr id="9" name="TextBox 8"/>
          <p:cNvSpPr txBox="1"/>
          <p:nvPr/>
        </p:nvSpPr>
        <p:spPr>
          <a:xfrm>
            <a:off x="3886200" y="20116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Contrato y comportamiento observable.</a:t>
            </a:r>
          </a:p>
        </p:txBody>
      </p:sp>
      <p:sp>
        <p:nvSpPr>
          <p:cNvPr id="10" name="Rectangle 9"/>
          <p:cNvSpPr/>
          <p:nvPr/>
        </p:nvSpPr>
        <p:spPr>
          <a:xfrm>
            <a:off x="731520" y="28072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260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Valgrind</a:t>
            </a:r>
          </a:p>
        </p:txBody>
      </p:sp>
      <p:sp>
        <p:nvSpPr>
          <p:cNvPr id="12" name="TextBox 11"/>
          <p:cNvSpPr txBox="1"/>
          <p:nvPr/>
        </p:nvSpPr>
        <p:spPr>
          <a:xfrm>
            <a:off x="3886200" y="29260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Accesos inválidos y fugas durante la ejecución.</a:t>
            </a:r>
          </a:p>
        </p:txBody>
      </p:sp>
      <p:sp>
        <p:nvSpPr>
          <p:cNvPr id="13" name="Rectangle 12"/>
          <p:cNvSpPr/>
          <p:nvPr/>
        </p:nvSpPr>
        <p:spPr>
          <a:xfrm>
            <a:off x="731520" y="37216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404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SonarQube</a:t>
            </a:r>
          </a:p>
        </p:txBody>
      </p:sp>
      <p:sp>
        <p:nvSpPr>
          <p:cNvPr id="15" name="TextBox 14"/>
          <p:cNvSpPr txBox="1"/>
          <p:nvPr/>
        </p:nvSpPr>
        <p:spPr>
          <a:xfrm>
            <a:off x="3886200" y="38404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Reglas de calidad y problemas detectables estáticamente.</a:t>
            </a:r>
          </a:p>
        </p:txBody>
      </p:sp>
      <p:sp>
        <p:nvSpPr>
          <p:cNvPr id="16" name="Rectangle 15"/>
          <p:cNvSpPr/>
          <p:nvPr/>
        </p:nvSpPr>
        <p:spPr>
          <a:xfrm>
            <a:off x="731520" y="46360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Pendiente: detección de carreras, cobertura y carga. No confundir evidencia con garantía.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12 / AUTOMATIZACIÓN</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CI reproducible, con alcance explícito</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13 / 15</a:t>
            </a:r>
          </a:p>
        </p:txBody>
      </p:sp>
      <p:sp>
        <p:nvSpPr>
          <p:cNvPr id="8" name="Rectangle 7"/>
          <p:cNvSpPr/>
          <p:nvPr/>
        </p:nvSpPr>
        <p:spPr>
          <a:xfrm>
            <a:off x="594360"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Push / PR</a:t>
            </a:r>
          </a:p>
        </p:txBody>
      </p:sp>
      <p:sp>
        <p:nvSpPr>
          <p:cNvPr id="10" name="TextBox 9"/>
          <p:cNvSpPr txBox="1"/>
          <p:nvPr/>
        </p:nvSpPr>
        <p:spPr>
          <a:xfrm>
            <a:off x="740664"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GitHub Actions</a:t>
            </a:r>
          </a:p>
        </p:txBody>
      </p:sp>
      <p:sp>
        <p:nvSpPr>
          <p:cNvPr id="11" name="Chevron 10"/>
          <p:cNvSpPr/>
          <p:nvPr/>
        </p:nvSpPr>
        <p:spPr>
          <a:xfrm>
            <a:off x="3140964"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3572"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9876"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Build + tests</a:t>
            </a:r>
          </a:p>
        </p:txBody>
      </p:sp>
      <p:sp>
        <p:nvSpPr>
          <p:cNvPr id="14" name="TextBox 13"/>
          <p:cNvSpPr txBox="1"/>
          <p:nvPr/>
        </p:nvSpPr>
        <p:spPr>
          <a:xfrm>
            <a:off x="3579876"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CMake / CTest</a:t>
            </a:r>
          </a:p>
        </p:txBody>
      </p:sp>
      <p:sp>
        <p:nvSpPr>
          <p:cNvPr id="15" name="Chevron 14"/>
          <p:cNvSpPr/>
          <p:nvPr/>
        </p:nvSpPr>
        <p:spPr>
          <a:xfrm>
            <a:off x="5980175"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Sonar en main</a:t>
            </a:r>
          </a:p>
        </p:txBody>
      </p:sp>
      <p:sp>
        <p:nvSpPr>
          <p:cNvPr id="18" name="TextBox 17"/>
          <p:cNvSpPr txBox="1"/>
          <p:nvPr/>
        </p:nvSpPr>
        <p:spPr>
          <a:xfrm>
            <a:off x="6419088"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compile_commands</a:t>
            </a:r>
          </a:p>
        </p:txBody>
      </p:sp>
      <p:sp>
        <p:nvSpPr>
          <p:cNvPr id="19" name="Chevron 18"/>
          <p:cNvSpPr/>
          <p:nvPr/>
        </p:nvSpPr>
        <p:spPr>
          <a:xfrm>
            <a:off x="8819388" y="269748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11996" y="2148840"/>
            <a:ext cx="2455164"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8300" y="2313432"/>
            <a:ext cx="2162556"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Quality gate</a:t>
            </a:r>
          </a:p>
        </p:txBody>
      </p:sp>
      <p:sp>
        <p:nvSpPr>
          <p:cNvPr id="22" name="TextBox 21"/>
          <p:cNvSpPr txBox="1"/>
          <p:nvPr/>
        </p:nvSpPr>
        <p:spPr>
          <a:xfrm>
            <a:off x="9258300" y="2898648"/>
            <a:ext cx="2162556"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Resultado del análisis</a:t>
            </a:r>
          </a:p>
        </p:txBody>
      </p:sp>
      <p:sp>
        <p:nvSpPr>
          <p:cNvPr id="23" name="TextBox 22"/>
          <p:cNvSpPr txBox="1"/>
          <p:nvPr/>
        </p:nvSpPr>
        <p:spPr>
          <a:xfrm>
            <a:off x="731520" y="4114800"/>
            <a:ext cx="10698480" cy="822960"/>
          </a:xfrm>
          <a:prstGeom prst="rect">
            <a:avLst/>
          </a:prstGeom>
          <a:noFill/>
        </p:spPr>
        <p:txBody>
          <a:bodyPr wrap="square" lIns="0" rIns="0" tIns="0" bIns="0">
            <a:spAutoFit/>
          </a:bodyPr>
          <a:lstStyle/>
          <a:p>
            <a:pPr>
              <a:lnSpc>
                <a:spcPct val="108000"/>
              </a:lnSpc>
              <a:spcAft>
                <a:spcPts val="800"/>
              </a:spcAft>
              <a:defRPr sz="2200" b="0">
                <a:solidFill>
                  <a:srgbClr val="20282B"/>
                </a:solidFill>
                <a:latin typeface="Arial"/>
              </a:defRPr>
            </a:pPr>
            <a:r>
              <a:t>Pool nuevo: comprobado localmente en macOS y Linux.</a:t>
            </a:r>
          </a:p>
          <a:p>
            <a:pPr>
              <a:lnSpc>
                <a:spcPct val="108000"/>
              </a:lnSpc>
              <a:spcAft>
                <a:spcPts val="800"/>
              </a:spcAft>
              <a:defRPr sz="2200" b="0">
                <a:solidFill>
                  <a:srgbClr val="20282B"/>
                </a:solidFill>
                <a:latin typeface="Arial"/>
              </a:defRPr>
            </a:pPr>
            <a:r>
              <a:t>Validación remota de estos cambios: pendiente de publicación.</a:t>
            </a:r>
          </a:p>
        </p:txBody>
      </p:sp>
      <p:sp>
        <p:nvSpPr>
          <p:cNvPr id="24" name="TextBox 23"/>
          <p:cNvSpPr txBox="1"/>
          <p:nvPr/>
        </p:nvSpPr>
        <p:spPr>
          <a:xfrm>
            <a:off x="731520" y="5166360"/>
            <a:ext cx="5120640" cy="320040"/>
          </a:xfrm>
          <a:prstGeom prst="rect">
            <a:avLst/>
          </a:prstGeom>
          <a:noFill/>
        </p:spPr>
        <p:txBody>
          <a:bodyPr wrap="square" lIns="0" rIns="0" tIns="0" bIns="0">
            <a:spAutoFit/>
          </a:bodyPr>
          <a:lstStyle/>
          <a:p>
            <a:pPr>
              <a:lnSpc>
                <a:spcPct val="108000"/>
              </a:lnSpc>
              <a:spcAft>
                <a:spcPts val="800"/>
              </a:spcAft>
              <a:defRPr sz="1700" b="1">
                <a:solidFill>
                  <a:srgbClr val="00786B"/>
                </a:solidFill>
                <a:latin typeface="Arial"/>
              </a:defRPr>
            </a:pPr>
            <a:r>
              <a:rPr>
                <a:hlinkClick r:id="rId3"/>
              </a:rPr>
              <a:t>GitHub Actions ↗</a:t>
            </a:r>
          </a:p>
        </p:txBody>
      </p:sp>
      <p:sp>
        <p:nvSpPr>
          <p:cNvPr id="25" name="TextBox 24"/>
          <p:cNvSpPr txBox="1"/>
          <p:nvPr/>
        </p:nvSpPr>
        <p:spPr>
          <a:xfrm>
            <a:off x="6217920" y="5166360"/>
            <a:ext cx="5120640" cy="320040"/>
          </a:xfrm>
          <a:prstGeom prst="rect">
            <a:avLst/>
          </a:prstGeom>
          <a:noFill/>
        </p:spPr>
        <p:txBody>
          <a:bodyPr wrap="square" lIns="0" rIns="0" tIns="0" bIns="0">
            <a:spAutoFit/>
          </a:bodyPr>
          <a:lstStyle/>
          <a:p>
            <a:pPr>
              <a:lnSpc>
                <a:spcPct val="108000"/>
              </a:lnSpc>
              <a:spcAft>
                <a:spcPts val="800"/>
              </a:spcAft>
              <a:defRPr sz="1700" b="1">
                <a:solidFill>
                  <a:srgbClr val="00786B"/>
                </a:solidFill>
                <a:latin typeface="Arial"/>
              </a:defRPr>
            </a:pPr>
            <a:r>
              <a:rPr>
                <a:hlinkClick r:id="rId4"/>
              </a:rPr>
              <a:t>SonarQube Cloud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13 / EXTENSIÓN DEL PROYECTO</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Una integración real contra Linux ARM64</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14 / 15</a:t>
            </a:r>
          </a:p>
        </p:txBody>
      </p:sp>
      <p:sp>
        <p:nvSpPr>
          <p:cNvPr id="8" name="Rectangle 7"/>
          <p:cNvSpPr/>
          <p:nvPr/>
        </p:nvSpPr>
        <p:spPr>
          <a:xfrm>
            <a:off x="594360" y="2240280"/>
            <a:ext cx="3401568"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404872"/>
            <a:ext cx="3108960"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Mac</a:t>
            </a:r>
          </a:p>
        </p:txBody>
      </p:sp>
      <p:sp>
        <p:nvSpPr>
          <p:cNvPr id="10" name="TextBox 9"/>
          <p:cNvSpPr txBox="1"/>
          <p:nvPr/>
        </p:nvSpPr>
        <p:spPr>
          <a:xfrm>
            <a:off x="740664" y="2990088"/>
            <a:ext cx="3108960"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Cliente C++ / libssh2</a:t>
            </a:r>
          </a:p>
        </p:txBody>
      </p:sp>
      <p:sp>
        <p:nvSpPr>
          <p:cNvPr id="11" name="Chevron 10"/>
          <p:cNvSpPr/>
          <p:nvPr/>
        </p:nvSpPr>
        <p:spPr>
          <a:xfrm>
            <a:off x="4087368" y="278892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2240280"/>
            <a:ext cx="3401568"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404872"/>
            <a:ext cx="3108960"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SSH + SFTP</a:t>
            </a:r>
          </a:p>
        </p:txBody>
      </p:sp>
      <p:sp>
        <p:nvSpPr>
          <p:cNvPr id="14" name="TextBox 13"/>
          <p:cNvSpPr txBox="1"/>
          <p:nvPr/>
        </p:nvSpPr>
        <p:spPr>
          <a:xfrm>
            <a:off x="4526280" y="2990088"/>
            <a:ext cx="3108960"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localhost:2222</a:t>
            </a:r>
          </a:p>
        </p:txBody>
      </p:sp>
      <p:sp>
        <p:nvSpPr>
          <p:cNvPr id="15" name="Chevron 14"/>
          <p:cNvSpPr/>
          <p:nvPr/>
        </p:nvSpPr>
        <p:spPr>
          <a:xfrm>
            <a:off x="7872984" y="2788920"/>
            <a:ext cx="201168" cy="274320"/>
          </a:xfrm>
          <a:prstGeom prst="chevron">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65592" y="2240280"/>
            <a:ext cx="3401568" cy="1417320"/>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2404872"/>
            <a:ext cx="3108960" cy="475488"/>
          </a:xfrm>
          <a:prstGeom prst="rect">
            <a:avLst/>
          </a:prstGeom>
          <a:noFill/>
        </p:spPr>
        <p:txBody>
          <a:bodyPr wrap="square" lIns="0" rIns="0" tIns="0" bIns="0">
            <a:spAutoFit/>
          </a:bodyPr>
          <a:lstStyle/>
          <a:p>
            <a:pPr>
              <a:lnSpc>
                <a:spcPct val="108000"/>
              </a:lnSpc>
              <a:spcAft>
                <a:spcPts val="800"/>
              </a:spcAft>
              <a:defRPr sz="2100" b="1">
                <a:solidFill>
                  <a:srgbClr val="00786B"/>
                </a:solidFill>
                <a:latin typeface="Arial"/>
              </a:defRPr>
            </a:pPr>
            <a:r>
              <a:t>Yocto / QEMU</a:t>
            </a:r>
          </a:p>
        </p:txBody>
      </p:sp>
      <p:sp>
        <p:nvSpPr>
          <p:cNvPr id="18" name="TextBox 17"/>
          <p:cNvSpPr txBox="1"/>
          <p:nvPr/>
        </p:nvSpPr>
        <p:spPr>
          <a:xfrm>
            <a:off x="8311896" y="2990088"/>
            <a:ext cx="3108960" cy="548640"/>
          </a:xfrm>
          <a:prstGeom prst="rect">
            <a:avLst/>
          </a:prstGeom>
          <a:noFill/>
        </p:spPr>
        <p:txBody>
          <a:bodyPr wrap="square" lIns="0" rIns="0" tIns="0" bIns="0">
            <a:spAutoFit/>
          </a:bodyPr>
          <a:lstStyle/>
          <a:p>
            <a:pPr>
              <a:lnSpc>
                <a:spcPct val="108000"/>
              </a:lnSpc>
              <a:spcAft>
                <a:spcPts val="800"/>
              </a:spcAft>
              <a:defRPr sz="1700" b="0">
                <a:solidFill>
                  <a:srgbClr val="536267"/>
                </a:solidFill>
                <a:latin typeface="Arial"/>
              </a:defRPr>
            </a:pPr>
            <a:r>
              <a:t>OpenSSH ARM64</a:t>
            </a:r>
          </a:p>
        </p:txBody>
      </p:sp>
      <p:sp>
        <p:nvSpPr>
          <p:cNvPr id="19" name="TextBox 18"/>
          <p:cNvSpPr txBox="1"/>
          <p:nvPr/>
        </p:nvSpPr>
        <p:spPr>
          <a:xfrm>
            <a:off x="731520" y="4160520"/>
            <a:ext cx="10698480" cy="960120"/>
          </a:xfrm>
          <a:prstGeom prst="rect">
            <a:avLst/>
          </a:prstGeom>
          <a:noFill/>
        </p:spPr>
        <p:txBody>
          <a:bodyPr wrap="square" lIns="0" rIns="0" tIns="0" bIns="0">
            <a:spAutoFit/>
          </a:bodyPr>
          <a:lstStyle/>
          <a:p>
            <a:pPr>
              <a:lnSpc>
                <a:spcPct val="108000"/>
              </a:lnSpc>
              <a:spcAft>
                <a:spcPts val="800"/>
              </a:spcAft>
              <a:defRPr sz="2300" b="0">
                <a:solidFill>
                  <a:srgbClr val="20282B"/>
                </a:solidFill>
                <a:latin typeface="Arial"/>
              </a:defRPr>
            </a:pPr>
            <a:r>
              <a:t>Resultado: archivo recibido y hashes SHA-256 coincidentes.</a:t>
            </a:r>
          </a:p>
          <a:p>
            <a:pPr>
              <a:lnSpc>
                <a:spcPct val="108000"/>
              </a:lnSpc>
              <a:spcAft>
                <a:spcPts val="800"/>
              </a:spcAft>
              <a:defRPr sz="2300" b="0">
                <a:solidFill>
                  <a:srgbClr val="20282B"/>
                </a:solidFill>
                <a:latin typeface="Arial"/>
              </a:defRPr>
            </a:pPr>
            <a:r>
              <a:t>Límite: la identidad SSH aún no se valida en el cliente.</a:t>
            </a:r>
          </a:p>
        </p:txBody>
      </p:sp>
      <p:sp>
        <p:nvSpPr>
          <p:cNvPr id="20" name="Rectangle 19"/>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Integración independiente: el servidor TCP principal todavía se ejecuta en el host.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1078992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14 / CONCLUSIÓN Y EVOLUCIÓN</a:t>
            </a:r>
          </a:p>
        </p:txBody>
      </p:sp>
      <p:sp>
        <p:nvSpPr>
          <p:cNvPr id="4" name="TextBox 3"/>
          <p:cNvSpPr txBox="1"/>
          <p:nvPr/>
        </p:nvSpPr>
        <p:spPr>
          <a:xfrm>
            <a:off x="594360" y="868680"/>
            <a:ext cx="10972800" cy="868680"/>
          </a:xfrm>
          <a:prstGeom prst="rect">
            <a:avLst/>
          </a:prstGeom>
          <a:noFill/>
        </p:spPr>
        <p:txBody>
          <a:bodyPr wrap="square" lIns="0" rIns="0" tIns="0" bIns="0">
            <a:spAutoFit/>
          </a:bodyPr>
          <a:lstStyle/>
          <a:p>
            <a:pPr>
              <a:lnSpc>
                <a:spcPct val="108000"/>
              </a:lnSpc>
              <a:spcAft>
                <a:spcPts val="800"/>
              </a:spcAft>
              <a:defRPr sz="3200" b="1">
                <a:solidFill>
                  <a:srgbClr val="20282B"/>
                </a:solidFill>
                <a:latin typeface="Arial"/>
              </a:defRPr>
            </a:pPr>
            <a:r>
              <a:t>La siguiente mejora la decide el riesgo</a:t>
            </a:r>
          </a:p>
        </p:txBody>
      </p:sp>
      <p:sp>
        <p:nvSpPr>
          <p:cNvPr id="5" name="Rectangle 4"/>
          <p:cNvSpPr/>
          <p:nvPr/>
        </p:nvSpPr>
        <p:spPr>
          <a:xfrm>
            <a:off x="594360" y="6355080"/>
            <a:ext cx="10972800" cy="13716"/>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9144000" cy="210312"/>
          </a:xfrm>
          <a:prstGeom prst="rect">
            <a:avLst/>
          </a:prstGeom>
          <a:noFill/>
        </p:spPr>
        <p:txBody>
          <a:bodyPr wrap="square" lIns="0" rIns="0" tIns="0" bIns="0">
            <a:spAutoFit/>
          </a:bodyPr>
          <a:lstStyle/>
          <a:p>
            <a:pPr>
              <a:lnSpc>
                <a:spcPct val="108000"/>
              </a:lnSpc>
              <a:spcAft>
                <a:spcPts val="800"/>
              </a:spcAft>
              <a:defRPr sz="1000" b="0">
                <a:solidFill>
                  <a:srgbClr val="536267"/>
                </a:solidFill>
                <a:latin typeface="Arial"/>
              </a:defRPr>
            </a:pPr>
            <a:r>
              <a:t>CARLOS GONZÁLEZ FUERTES  /  PROYECTO PERSONAL C++</a:t>
            </a:r>
          </a:p>
        </p:txBody>
      </p:sp>
      <p:sp>
        <p:nvSpPr>
          <p:cNvPr id="7" name="TextBox 6"/>
          <p:cNvSpPr txBox="1"/>
          <p:nvPr/>
        </p:nvSpPr>
        <p:spPr>
          <a:xfrm>
            <a:off x="10881360" y="6473952"/>
            <a:ext cx="685800" cy="274320"/>
          </a:xfrm>
          <a:prstGeom prst="rect">
            <a:avLst/>
          </a:prstGeom>
          <a:noFill/>
        </p:spPr>
        <p:txBody>
          <a:bodyPr wrap="square" lIns="0" rIns="0" tIns="0" bIns="0">
            <a:spAutoFit/>
          </a:bodyPr>
          <a:lstStyle/>
          <a:p>
            <a:pPr>
              <a:lnSpc>
                <a:spcPct val="108000"/>
              </a:lnSpc>
              <a:spcAft>
                <a:spcPts val="800"/>
              </a:spcAft>
              <a:defRPr sz="1100" b="1">
                <a:solidFill>
                  <a:srgbClr val="00786B"/>
                </a:solidFill>
                <a:latin typeface="Arial"/>
              </a:defRPr>
            </a:pPr>
            <a:r>
              <a:t>15 / 15</a:t>
            </a:r>
          </a:p>
        </p:txBody>
      </p:sp>
      <p:sp>
        <p:nvSpPr>
          <p:cNvPr id="8" name="TextBox 7"/>
          <p:cNvSpPr txBox="1"/>
          <p:nvPr/>
        </p:nvSpPr>
        <p:spPr>
          <a:xfrm>
            <a:off x="731520" y="20116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Primero · fiabilidad</a:t>
            </a:r>
          </a:p>
        </p:txBody>
      </p:sp>
      <p:sp>
        <p:nvSpPr>
          <p:cNvPr id="9" name="TextBox 8"/>
          <p:cNvSpPr txBox="1"/>
          <p:nvPr/>
        </p:nvSpPr>
        <p:spPr>
          <a:xfrm>
            <a:off x="3886200" y="20116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RAII para sockets y timeout por cliente.</a:t>
            </a:r>
          </a:p>
        </p:txBody>
      </p:sp>
      <p:sp>
        <p:nvSpPr>
          <p:cNvPr id="10" name="Rectangle 9"/>
          <p:cNvSpPr/>
          <p:nvPr/>
        </p:nvSpPr>
        <p:spPr>
          <a:xfrm>
            <a:off x="731520" y="28072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260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Después · evidencia</a:t>
            </a:r>
          </a:p>
        </p:txBody>
      </p:sp>
      <p:sp>
        <p:nvSpPr>
          <p:cNvPr id="12" name="TextBox 11"/>
          <p:cNvSpPr txBox="1"/>
          <p:nvPr/>
        </p:nvSpPr>
        <p:spPr>
          <a:xfrm>
            <a:off x="3886200" y="29260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Parser robusto, carreras, cobertura y pruebas de carga.</a:t>
            </a:r>
          </a:p>
        </p:txBody>
      </p:sp>
      <p:sp>
        <p:nvSpPr>
          <p:cNvPr id="13" name="Rectangle 12"/>
          <p:cNvSpPr/>
          <p:nvPr/>
        </p:nvSpPr>
        <p:spPr>
          <a:xfrm>
            <a:off x="731520" y="37216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40480"/>
            <a:ext cx="2926080" cy="713232"/>
          </a:xfrm>
          <a:prstGeom prst="rect">
            <a:avLst/>
          </a:prstGeom>
          <a:noFill/>
        </p:spPr>
        <p:txBody>
          <a:bodyPr wrap="square" lIns="0" rIns="0" tIns="0" bIns="0">
            <a:spAutoFit/>
          </a:bodyPr>
          <a:lstStyle/>
          <a:p>
            <a:pPr>
              <a:lnSpc>
                <a:spcPct val="108000"/>
              </a:lnSpc>
              <a:spcAft>
                <a:spcPts val="800"/>
              </a:spcAft>
              <a:defRPr sz="2200" b="1">
                <a:solidFill>
                  <a:srgbClr val="00786B"/>
                </a:solidFill>
                <a:latin typeface="Arial"/>
              </a:defRPr>
            </a:pPr>
            <a:r>
              <a:t>Según medidas</a:t>
            </a:r>
          </a:p>
        </p:txBody>
      </p:sp>
      <p:sp>
        <p:nvSpPr>
          <p:cNvPr id="15" name="TextBox 14"/>
          <p:cNvSpPr txBox="1"/>
          <p:nvPr/>
        </p:nvSpPr>
        <p:spPr>
          <a:xfrm>
            <a:off x="3886200" y="3840480"/>
            <a:ext cx="7406640" cy="731520"/>
          </a:xfrm>
          <a:prstGeom prst="rect">
            <a:avLst/>
          </a:prstGeom>
          <a:noFill/>
        </p:spPr>
        <p:txBody>
          <a:bodyPr wrap="square" lIns="0" rIns="0" tIns="0" bIns="0">
            <a:spAutoFit/>
          </a:bodyPr>
          <a:lstStyle/>
          <a:p>
            <a:pPr>
              <a:lnSpc>
                <a:spcPct val="108000"/>
              </a:lnSpc>
              <a:spcAft>
                <a:spcPts val="800"/>
              </a:spcAft>
              <a:defRPr sz="2100" b="0">
                <a:solidFill>
                  <a:srgbClr val="20282B"/>
                </a:solidFill>
                <a:latin typeface="Arial"/>
              </a:defRPr>
            </a:pPr>
            <a:r>
              <a:t>Evaluar E/S asíncrona si el patrón de carga lo justifica.</a:t>
            </a:r>
          </a:p>
        </p:txBody>
      </p:sp>
      <p:sp>
        <p:nvSpPr>
          <p:cNvPr id="16" name="Rectangle 15"/>
          <p:cNvSpPr/>
          <p:nvPr/>
        </p:nvSpPr>
        <p:spPr>
          <a:xfrm>
            <a:off x="731520" y="4636008"/>
            <a:ext cx="10607040" cy="10972"/>
          </a:xfrm>
          <a:prstGeom prst="rect">
            <a:avLst/>
          </a:prstGeom>
          <a:solidFill>
            <a:srgbClr val="D9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5596128"/>
            <a:ext cx="10972800" cy="557784"/>
          </a:xfrm>
          <a:prstGeom prst="rect">
            <a:avLst/>
          </a:prstGeom>
          <a:solidFill>
            <a:srgbClr val="EA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24144"/>
            <a:ext cx="10607040" cy="365760"/>
          </a:xfrm>
          <a:prstGeom prst="rect">
            <a:avLst/>
          </a:prstGeom>
          <a:noFill/>
        </p:spPr>
        <p:txBody>
          <a:bodyPr wrap="square" lIns="0" rIns="0" tIns="0" bIns="0">
            <a:spAutoFit/>
          </a:bodyPr>
          <a:lstStyle/>
          <a:p>
            <a:pPr>
              <a:lnSpc>
                <a:spcPct val="108000"/>
              </a:lnSpc>
              <a:spcAft>
                <a:spcPts val="800"/>
              </a:spcAft>
              <a:defRPr sz="1700" b="0">
                <a:solidFill>
                  <a:srgbClr val="00786B"/>
                </a:solidFill>
                <a:latin typeface="Arial"/>
              </a:defRPr>
            </a:pPr>
            <a:r>
              <a:t>El diseño debe explicar el caso normal, la saturación y la terminación.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Servidor concurrente en C++ — diseño, fiabilidad y evolución</dc:title>
  <dc:subject>Proyecto personal · entrevista C/C++ · 15 minutos · 15 diapositivas</dc:subject>
  <dc:creator>Carlos González Fuertes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